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8" r:id="rId3"/>
    <p:sldId id="259" r:id="rId4"/>
    <p:sldId id="260" r:id="rId5"/>
    <p:sldId id="261" r:id="rId6"/>
    <p:sldId id="262" r:id="rId7"/>
    <p:sldId id="266" r:id="rId8"/>
    <p:sldId id="265" r:id="rId9"/>
    <p:sldId id="268" r:id="rId10"/>
    <p:sldId id="271" r:id="rId11"/>
    <p:sldId id="267" r:id="rId12"/>
    <p:sldId id="272" r:id="rId13"/>
    <p:sldId id="273" r:id="rId14"/>
    <p:sldId id="274" r:id="rId15"/>
    <p:sldId id="275" r:id="rId16"/>
    <p:sldId id="263" r:id="rId17"/>
    <p:sldId id="270" r:id="rId18"/>
    <p:sldId id="264" r:id="rId19"/>
    <p:sldId id="276" r:id="rId20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KbkKaSFSBKQJQzp3TrMcaf1tw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364" y="2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" name="Google Shape;5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" name="Google Shape;6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FB30325D-E9A1-FBA9-8FA7-D6269096C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45D80BD6-6F89-50E8-2286-AAB9D34289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48562092-F273-4036-3E15-B4C58048DF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3370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7477F41F-22D3-CF07-D9D8-C6F5C308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C62733E7-CB8E-404B-FB66-B2B06EBAB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A0F1B244-1EEF-34BB-B8F8-B3EE684011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037139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3DFE74B-40C3-349B-5179-1C1CD20A3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A459E21D-251E-D037-D5CC-CAA0FF4203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7766CC7D-FBF7-DDF1-632A-9F59A19708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4500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A82A37B-5BBF-01B4-2CE3-18799CC7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63306494-064E-C28E-EEBA-BEE079B6614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F9C4CB23-B254-6FAF-D21E-643D8941A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31165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240FD0A6-948C-21B0-34D5-38E8D5B19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FC2B2314-EBFE-A677-A043-65D01ADE38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0092A011-3137-9935-C03E-CDE31C3970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49732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392003BF-540E-93F1-A70F-ECE534511B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A28CAFA1-9DB9-2B59-CD99-605A25C655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002B4CCF-28CA-7E60-73B4-E6236136B05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57136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3EBABAD-6C92-826B-10D2-845A015F5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A41788D2-F3F4-F6F4-10E7-6DF38BD300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DDF9E570-FF62-7F58-4FC2-D988ED757E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578943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00C9F8DE-15F2-9D24-E502-FEBF7F5B5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B0FE2FE0-D7C5-CB51-A0ED-689C2B718C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BA6C07DC-A1F0-B380-C9FC-448B63E9D8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1596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>
          <a:extLst>
            <a:ext uri="{FF2B5EF4-FFF2-40B4-BE49-F238E27FC236}">
              <a16:creationId xmlns:a16="http://schemas.microsoft.com/office/drawing/2014/main" id="{1BAEA27F-C5C7-E7D8-4284-0B20F430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025FCC7-553F-1551-ADDA-695794739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" name="Google Shape;74;p4:notes">
            <a:extLst>
              <a:ext uri="{FF2B5EF4-FFF2-40B4-BE49-F238E27FC236}">
                <a16:creationId xmlns:a16="http://schemas.microsoft.com/office/drawing/2014/main" id="{C2B7AA93-B92A-F6E2-708E-C49DD13E0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89974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>
          <a:extLst>
            <a:ext uri="{FF2B5EF4-FFF2-40B4-BE49-F238E27FC236}">
              <a16:creationId xmlns:a16="http://schemas.microsoft.com/office/drawing/2014/main" id="{E19BA712-D6A0-F21C-4B69-94529A222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>
            <a:extLst>
              <a:ext uri="{FF2B5EF4-FFF2-40B4-BE49-F238E27FC236}">
                <a16:creationId xmlns:a16="http://schemas.microsoft.com/office/drawing/2014/main" id="{6D8A9F76-DF7A-C8EF-0A06-B54039F23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7:notes">
            <a:extLst>
              <a:ext uri="{FF2B5EF4-FFF2-40B4-BE49-F238E27FC236}">
                <a16:creationId xmlns:a16="http://schemas.microsoft.com/office/drawing/2014/main" id="{B9C6FA28-09E9-7418-3EE2-99AC56784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17562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1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2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/>
          <p:nvPr/>
        </p:nvSpPr>
        <p:spPr>
          <a:xfrm>
            <a:off x="520075" y="1487870"/>
            <a:ext cx="7085700" cy="2600100"/>
          </a:xfrm>
          <a:prstGeom prst="roundRect">
            <a:avLst>
              <a:gd name="adj" fmla="val 125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lang="ru-RU" sz="440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Задача 6 Прикладной Аналитики Данных</a:t>
            </a:r>
            <a:endParaRPr sz="44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400" dirty="0" err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Artraid</a:t>
            </a:r>
            <a:endParaRPr sz="24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>
            <a:spLocks noGrp="1"/>
          </p:cNvSpPr>
          <p:nvPr>
            <p:ph type="title"/>
          </p:nvPr>
        </p:nvSpPr>
        <p:spPr>
          <a:xfrm>
            <a:off x="846174" y="32072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Дачники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449475" y="1154000"/>
            <a:ext cx="1305300" cy="1305300"/>
          </a:xfrm>
          <a:prstGeom prst="ellipse">
            <a:avLst/>
          </a:prstGeom>
          <a:noFill/>
          <a:ln w="9525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endParaRPr sz="126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929524" y="1154000"/>
            <a:ext cx="1305300" cy="1305300"/>
          </a:xfrm>
          <a:prstGeom prst="ellipse">
            <a:avLst/>
          </a:prstGeom>
          <a:noFill/>
          <a:ln w="9525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endParaRPr sz="126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9573" y="1154000"/>
            <a:ext cx="1305300" cy="1305300"/>
          </a:xfrm>
          <a:prstGeom prst="ellipse">
            <a:avLst/>
          </a:prstGeom>
          <a:noFill/>
          <a:ln w="9525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2900" tIns="82900" rIns="82900" bIns="82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9"/>
              <a:buFont typeface="Arial"/>
              <a:buNone/>
            </a:pPr>
            <a:endParaRPr sz="1269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3789C4-3223-2C12-C7DF-94EACB88A255}"/>
              </a:ext>
            </a:extLst>
          </p:cNvPr>
          <p:cNvSpPr txBox="1"/>
          <p:nvPr/>
        </p:nvSpPr>
        <p:spPr>
          <a:xfrm>
            <a:off x="1506174" y="1490917"/>
            <a:ext cx="122509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 err="1"/>
              <a:t>Поражинский</a:t>
            </a:r>
            <a:r>
              <a:rPr lang="ru-RU" sz="1100" dirty="0"/>
              <a:t> </a:t>
            </a:r>
          </a:p>
          <a:p>
            <a:pPr algn="ctr"/>
            <a:r>
              <a:rPr lang="ru-RU" sz="1100" dirty="0"/>
              <a:t>Владислав</a:t>
            </a:r>
          </a:p>
          <a:p>
            <a:pPr algn="ctr"/>
            <a:r>
              <a:rPr lang="ru-RU" sz="1100" dirty="0"/>
              <a:t>Старший кодер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395D7-AC19-7370-CE12-18439F5B8132}"/>
              </a:ext>
            </a:extLst>
          </p:cNvPr>
          <p:cNvSpPr txBox="1"/>
          <p:nvPr/>
        </p:nvSpPr>
        <p:spPr>
          <a:xfrm>
            <a:off x="6543798" y="1463048"/>
            <a:ext cx="1065215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 err="1"/>
              <a:t>Подгорецкий</a:t>
            </a:r>
            <a:r>
              <a:rPr lang="ru-RU" sz="1100" dirty="0"/>
              <a:t> </a:t>
            </a:r>
          </a:p>
          <a:p>
            <a:pPr algn="ctr"/>
            <a:r>
              <a:rPr lang="ru-RU" sz="1100" dirty="0"/>
              <a:t>Александр</a:t>
            </a:r>
          </a:p>
          <a:p>
            <a:pPr algn="ctr"/>
            <a:r>
              <a:rPr lang="ru-RU" sz="1100" dirty="0"/>
              <a:t>Тестировщик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85361-4D2E-3062-4306-2CF99ED2D86F}"/>
              </a:ext>
            </a:extLst>
          </p:cNvPr>
          <p:cNvSpPr txBox="1"/>
          <p:nvPr/>
        </p:nvSpPr>
        <p:spPr>
          <a:xfrm>
            <a:off x="3929524" y="1575555"/>
            <a:ext cx="1305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100" dirty="0"/>
              <a:t>Диденко Андрей</a:t>
            </a:r>
          </a:p>
          <a:p>
            <a:pPr algn="ctr"/>
            <a:r>
              <a:rPr lang="ru-RU" sz="1100" dirty="0"/>
              <a:t>Младший кодер</a:t>
            </a:r>
          </a:p>
        </p:txBody>
      </p: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172E198B-CA21-05AC-560E-15BFC37F0213}"/>
              </a:ext>
            </a:extLst>
          </p:cNvPr>
          <p:cNvGrpSpPr/>
          <p:nvPr/>
        </p:nvGrpSpPr>
        <p:grpSpPr>
          <a:xfrm>
            <a:off x="5307665" y="2841239"/>
            <a:ext cx="1305300" cy="1305300"/>
            <a:chOff x="3929524" y="2944777"/>
            <a:chExt cx="1305300" cy="1305300"/>
          </a:xfrm>
        </p:grpSpPr>
        <p:sp>
          <p:nvSpPr>
            <p:cNvPr id="69" name="Google Shape;69;p3"/>
            <p:cNvSpPr/>
            <p:nvPr/>
          </p:nvSpPr>
          <p:spPr>
            <a:xfrm>
              <a:off x="3929524" y="2944777"/>
              <a:ext cx="1305300" cy="1305300"/>
            </a:xfrm>
            <a:prstGeom prst="ellipse">
              <a:avLst/>
            </a:prstGeom>
            <a:noFill/>
            <a:ln w="9525" cap="flat" cmpd="sng">
              <a:solidFill>
                <a:srgbClr val="022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00" tIns="82900" rIns="82900" bIns="82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9"/>
                <a:buFont typeface="Arial"/>
                <a:buNone/>
              </a:pPr>
              <a:endParaRPr sz="126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985D305-9055-8207-65D8-B4E0E660EF3A}"/>
                </a:ext>
              </a:extLst>
            </p:cNvPr>
            <p:cNvSpPr txBox="1"/>
            <p:nvPr/>
          </p:nvSpPr>
          <p:spPr>
            <a:xfrm>
              <a:off x="3999428" y="3297345"/>
              <a:ext cx="1191006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100" dirty="0"/>
                <a:t>Никулина Анна</a:t>
              </a:r>
            </a:p>
            <a:p>
              <a:pPr algn="ctr"/>
              <a:r>
                <a:rPr lang="ru-RU" sz="1100" dirty="0"/>
                <a:t>Координатор и </a:t>
              </a:r>
            </a:p>
            <a:p>
              <a:pPr algn="ctr"/>
              <a:r>
                <a:rPr lang="ru-RU" sz="1100" dirty="0"/>
                <a:t>редактор</a:t>
              </a:r>
            </a:p>
          </p:txBody>
        </p: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51096F6-2847-493C-B737-95FD306AC4D3}"/>
              </a:ext>
            </a:extLst>
          </p:cNvPr>
          <p:cNvGrpSpPr/>
          <p:nvPr/>
        </p:nvGrpSpPr>
        <p:grpSpPr>
          <a:xfrm>
            <a:off x="2617130" y="2773213"/>
            <a:ext cx="1305300" cy="1305300"/>
            <a:chOff x="2617130" y="2773213"/>
            <a:chExt cx="1305300" cy="1305300"/>
          </a:xfrm>
        </p:grpSpPr>
        <p:sp>
          <p:nvSpPr>
            <p:cNvPr id="67" name="Google Shape;67;p3"/>
            <p:cNvSpPr/>
            <p:nvPr/>
          </p:nvSpPr>
          <p:spPr>
            <a:xfrm>
              <a:off x="2617130" y="2773213"/>
              <a:ext cx="1305300" cy="1305300"/>
            </a:xfrm>
            <a:prstGeom prst="ellipse">
              <a:avLst/>
            </a:prstGeom>
            <a:noFill/>
            <a:ln w="9525" cap="flat" cmpd="sng">
              <a:solidFill>
                <a:srgbClr val="02266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82900" tIns="82900" rIns="82900" bIns="829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9"/>
                <a:buFont typeface="Arial"/>
                <a:buNone/>
              </a:pPr>
              <a:endParaRPr sz="126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0726E64-6AB2-A753-678D-6B286E11F145}"/>
                </a:ext>
              </a:extLst>
            </p:cNvPr>
            <p:cNvSpPr txBox="1"/>
            <p:nvPr/>
          </p:nvSpPr>
          <p:spPr>
            <a:xfrm>
              <a:off x="2804056" y="3125781"/>
              <a:ext cx="941548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100" dirty="0"/>
                <a:t>Захаров </a:t>
              </a:r>
            </a:p>
            <a:p>
              <a:pPr algn="ctr"/>
              <a:r>
                <a:rPr lang="ru-RU" sz="1100" dirty="0"/>
                <a:t>Михаил</a:t>
              </a:r>
            </a:p>
            <a:p>
              <a:pPr algn="ctr"/>
              <a:r>
                <a:rPr lang="ru-RU" sz="1100" dirty="0"/>
                <a:t>Аналитик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Проблема/задача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Мы работали над задачей анализа процесса выполнения заказов в B2C-сегменте с целью повышения уровня выкупа и снижения потерь.</a:t>
            </a:r>
          </a:p>
          <a:p>
            <a:pPr marL="114300" indent="0"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В ходе анализа было выявлено: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общий уровень выкупа составляет 87.4%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около 12–13% заказов не выкупается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суммарные потери достигают 12.41 млн ₽ </a:t>
            </a:r>
          </a:p>
          <a:p>
            <a:pPr marL="114300" indent="0"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Задача заключалась в том, чтобы: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понять, на каких этапах теряются заказы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выявить ключевые факторы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невыкупа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предложить решения для увеличения выкупа</a:t>
            </a:r>
          </a:p>
          <a:p>
            <a:pPr marL="0" lvl="0" indent="0">
              <a:spcAft>
                <a:spcPts val="1200"/>
              </a:spcAft>
              <a:buNone/>
            </a:pPr>
            <a:endParaRPr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Решение</a:t>
            </a:r>
            <a:endParaRPr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311700" y="1212275"/>
            <a:ext cx="8118000" cy="1694700"/>
          </a:xfrm>
          <a:prstGeom prst="roundRect">
            <a:avLst>
              <a:gd name="adj" fmla="val 19152"/>
            </a:avLst>
          </a:prstGeom>
          <a:solidFill>
            <a:schemeClr val="lt1"/>
          </a:solidFill>
          <a:ln w="19050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Мы разработали систему SLA &amp;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Buyout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Intelligence, которая: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анализирует процесс доставки и выкупа; выявляет ключевые факторы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невыкупа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; прогнозирует риск по каждому заказу; оценивает потери в деньгах; формирует приоритетные управленческие действия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Решение объединяет аналитику, машинное обучение и инженерную реализацию в виде API.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ru"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lvl="0">
              <a:spcAft>
                <a:spcPts val="1200"/>
              </a:spcAft>
              <a:buSzPts val="1600"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вам не забыть про важные моменты проекта и выстроить ваше выступление </a:t>
            </a:r>
            <a:r>
              <a:rPr lang="ru" sz="2800" dirty="0">
                <a:solidFill>
                  <a:srgbClr val="FF0000"/>
                </a:solidFill>
                <a:latin typeface="Roboto"/>
                <a:ea typeface="Roboto"/>
                <a:cs typeface="Roboto"/>
                <a:sym typeface="Roboto"/>
              </a:rPr>
              <a:t>так</a:t>
            </a:r>
            <a:endParaRPr sz="2600" b="0" i="0" u="none" strike="noStrike" cap="none" dirty="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311700" y="3234511"/>
            <a:ext cx="8118000" cy="1694700"/>
          </a:xfrm>
          <a:prstGeom prst="roundRect">
            <a:avLst>
              <a:gd name="adj" fmla="val 19152"/>
            </a:avLst>
          </a:prstGeom>
          <a:solidFill>
            <a:schemeClr val="lt1"/>
          </a:solidFill>
          <a:ln w="19050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Основные функции и особенности решения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ru-RU" sz="1600" b="0" i="0" u="none" strike="noStrike" cap="none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>
              <a:spcAft>
                <a:spcPts val="1200"/>
              </a:spcAft>
              <a:buSzPts val="1600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Roboto"/>
                <a:ea typeface="Roboto"/>
                <a:cs typeface="Roboto"/>
              </a:rPr>
              <a:t>1. Когортный анализ             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Roboto"/>
                <a:ea typeface="Roboto"/>
                <a:cs typeface="Roboto"/>
              </a:rPr>
              <a:t>3. ML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Roboto"/>
                <a:ea typeface="Roboto"/>
                <a:cs typeface="Roboto"/>
              </a:rPr>
              <a:t>модель               5. Рекомендательная система</a:t>
            </a:r>
          </a:p>
          <a:p>
            <a:pPr>
              <a:spcAft>
                <a:spcPts val="1200"/>
              </a:spcAft>
              <a:buSzPts val="1600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  <a:latin typeface="Roboto"/>
                <a:ea typeface="Roboto"/>
                <a:cs typeface="Roboto"/>
              </a:rPr>
              <a:t>2. Факторный анализ             4. Финансовая оценка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Техническая реализация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311700" y="1166075"/>
            <a:ext cx="8118000" cy="1157400"/>
          </a:xfrm>
          <a:prstGeom prst="roundRect">
            <a:avLst>
              <a:gd name="adj" fmla="val 23213"/>
            </a:avLst>
          </a:prstGeom>
          <a:noFill/>
          <a:ln w="19050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Решение реализовано с использованием: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Python — анализ данных и ML ;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Pandas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— обработка данных ;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Scikit-learn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— построение моделей ;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FastAPI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— API сервис ;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Docker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— развёртывание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311700" y="2517325"/>
            <a:ext cx="8118000" cy="1042500"/>
          </a:xfrm>
          <a:prstGeom prst="roundRect">
            <a:avLst>
              <a:gd name="adj" fmla="val 23213"/>
            </a:avLst>
          </a:prstGeom>
          <a:solidFill>
            <a:srgbClr val="D9F2FF"/>
          </a:solidFill>
          <a:ln w="19050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1100"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Архитектура: </a:t>
            </a:r>
            <a:r>
              <a:rPr lang="en-US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Data → Processing → Feature Engineering → ML Model → API → Output (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дашборд / отчёты)</a:t>
            </a:r>
            <a:endParaRPr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311700" y="3745525"/>
            <a:ext cx="8118000" cy="1157400"/>
          </a:xfrm>
          <a:prstGeom prst="roundRect">
            <a:avLst>
              <a:gd name="adj" fmla="val 23213"/>
            </a:avLst>
          </a:prstGeom>
          <a:solidFill>
            <a:srgbClr val="FFE2EF"/>
          </a:solidFill>
          <a:ln w="19050" cap="flat" cmpd="sng">
            <a:solidFill>
              <a:srgbClr val="022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spcAft>
                <a:spcPts val="1200"/>
              </a:spcAft>
              <a:buSzPts val="1600"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</a:t>
            </a:r>
            <a:r>
              <a:rPr lang="ru" sz="1600" b="0" i="0" u="none" strike="noStrike" cap="none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роцесс работы: </a:t>
            </a:r>
            <a:r>
              <a:rPr lang="ru-RU" alt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Очистка данных, Исследовательский анализ, Построение метрик SLA, Факторный анализ, Обучение моделей, Финансовая оценка, Формирование рекомендаций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05AC459-65AD-EC18-9370-F9AC570DE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4" y="630913"/>
            <a:ext cx="7591171" cy="4409834"/>
          </a:xfrm>
          <a:prstGeom prst="rect">
            <a:avLst/>
          </a:prstGeom>
        </p:spPr>
      </p:pic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311700" y="17538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Распределение выкупа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/>
          <p:cNvSpPr txBox="1">
            <a:spLocks noGrp="1"/>
          </p:cNvSpPr>
          <p:nvPr>
            <p:ph type="body" idx="1"/>
          </p:nvPr>
        </p:nvSpPr>
        <p:spPr>
          <a:xfrm>
            <a:off x="506028" y="994399"/>
            <a:ext cx="3773009" cy="315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медианный выкуп: 96.4%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25% когорт: ниже 86%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есть когорты с выкупом &lt; 60% </a:t>
            </a:r>
          </a:p>
          <a:p>
            <a:pPr marL="114300" indent="0">
              <a:buNone/>
            </a:pPr>
            <a:endParaRPr lang="ru-RU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endParaRPr lang="ru-RU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endParaRPr lang="ru-RU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Вывод: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система в среднем эффективна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но есть “слабые когорты”, которые формируют потери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A6355ED1-AF30-840C-D3A3-759298D6A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1EF491-B4E5-C8EA-6542-3CD4A3733D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736" y="655574"/>
            <a:ext cx="6769335" cy="3932417"/>
          </a:xfrm>
          <a:prstGeom prst="rect">
            <a:avLst/>
          </a:prstGeom>
        </p:spPr>
      </p:pic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A2D63DE8-A8B5-2E6C-8170-9C90D1E4F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828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ct val="111111"/>
            </a:pPr>
            <a:r>
              <a:rPr lang="ru-RU" sz="25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Динамика выкупа</a:t>
            </a:r>
            <a:endParaRPr lang="ru-RU" sz="25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10267449-F118-8B21-B1AE-A47B57CBCA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50714" y="1071526"/>
            <a:ext cx="3843611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медианный срок выкупа: 7 дней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80% выкупа происходит в первые 7–10 дней </a:t>
            </a:r>
          </a:p>
          <a:p>
            <a:pPr marL="114300" indent="0">
              <a:buNone/>
            </a:pPr>
            <a:endParaRPr lang="en-US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endParaRPr lang="en-US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Вывод: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существует критическое окно влияния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после 10 дней вероятность резко падает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0348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241278AA-587E-3BBA-75C8-F88AD1431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5FB5608A-4C3A-21FB-F67B-9169DB0AD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>
              <a:buSzPct val="111111"/>
            </a:pPr>
            <a:r>
              <a:rPr lang="en-US" sz="25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Heatmap </a:t>
            </a:r>
            <a:r>
              <a:rPr lang="ru-RU" sz="25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Когорт</a:t>
            </a: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7FB46B7F-3DF4-4C9E-5E24-DCE9E82DE1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37799" y="445025"/>
            <a:ext cx="254691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часть когорт быстро достигает 100%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часть останавливается на 60–80% </a:t>
            </a:r>
          </a:p>
          <a:p>
            <a:pPr marL="114300" indent="0">
              <a:buNone/>
            </a:pPr>
            <a:endParaRPr lang="en-US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endParaRPr lang="en-US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114300" indent="0"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Вывод: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поведение когорт неоднородно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значит есть скрытые факторы (логистика, менеджеры)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ключевой период: 0–10 дней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разница между когортами: до 40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п.п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.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потенциал роста без увеличения продаж 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Проблема носит операционный характер</a:t>
            </a:r>
          </a:p>
          <a:p>
            <a:endParaRPr lang="ru-RU" sz="1600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endParaRPr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848279-76A8-A1B4-6EA7-9294917FB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901" y="1017725"/>
            <a:ext cx="6014200" cy="406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854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D5AB7F58-4027-5EAE-59EE-980647AA5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344662B-485D-B7DE-6AEB-AB6D40BA8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6280" y="650449"/>
            <a:ext cx="6667018" cy="4437199"/>
          </a:xfrm>
          <a:prstGeom prst="rect">
            <a:avLst/>
          </a:prstGeom>
        </p:spPr>
      </p:pic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20D7B6C5-D6BE-08B8-5666-B057199BA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55708" y="0"/>
            <a:ext cx="7327590" cy="95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ru-RU" sz="28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Факторы</a:t>
            </a:r>
          </a:p>
        </p:txBody>
      </p:sp>
      <p:sp>
        <p:nvSpPr>
          <p:cNvPr id="9" name="Google Shape;98;p7">
            <a:extLst>
              <a:ext uri="{FF2B5EF4-FFF2-40B4-BE49-F238E27FC236}">
                <a16:creationId xmlns:a16="http://schemas.microsoft.com/office/drawing/2014/main" id="{0A8C724D-11B9-42B7-48BA-E22DADD79D19}"/>
              </a:ext>
            </a:extLst>
          </p:cNvPr>
          <p:cNvSpPr txBox="1">
            <a:spLocks/>
          </p:cNvSpPr>
          <p:nvPr/>
        </p:nvSpPr>
        <p:spPr>
          <a:xfrm>
            <a:off x="3043580" y="55852"/>
            <a:ext cx="5800290" cy="9549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Aft>
                <a:spcPts val="1200"/>
              </a:spcAft>
              <a:buNone/>
            </a:pPr>
            <a:r>
              <a:rPr lang="en-US" sz="28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speed_to_delivery_days</a:t>
            </a:r>
            <a:r>
              <a:rPr lang="en-US" sz="28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(24% importance) - </a:t>
            </a:r>
            <a:r>
              <a:rPr lang="ru-RU" sz="28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это главный драйвер выкупа</a:t>
            </a:r>
            <a:endParaRPr lang="ru-RU" sz="28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50052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77A62648-34A0-469B-A43C-CBC962891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2D96F2-1CC8-AF68-4C6A-727B851D27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9305" y="1354781"/>
            <a:ext cx="6142366" cy="3665556"/>
          </a:xfrm>
          <a:prstGeom prst="rect">
            <a:avLst/>
          </a:prstGeom>
        </p:spPr>
      </p:pic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EFE215C3-3070-3155-8964-90F7A6E5C8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58675"/>
            <a:ext cx="3177224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Влияние скорости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075498E2-9CA6-392D-477C-1B6B0BA13C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31375"/>
            <a:ext cx="8520600" cy="9021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Задержка передачи в доставку: ≤3 дней → выкуп: </a:t>
            </a:r>
            <a:r>
              <a:rPr lang="ru-RU" sz="1600" b="1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90.5%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, а </a:t>
            </a:r>
            <a:r>
              <a:rPr lang="en-US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&gt;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3 дней → выкуп: </a:t>
            </a:r>
            <a:r>
              <a:rPr lang="ru-RU" sz="1600" b="1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79.6%</a:t>
            </a:r>
            <a:endParaRPr lang="en-US" sz="1600" b="1" dirty="0">
              <a:solidFill>
                <a:srgbClr val="022666"/>
              </a:solidFill>
              <a:latin typeface="Roboto"/>
              <a:ea typeface="Roboto"/>
              <a:cs typeface="Roboto"/>
            </a:endParaRP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скорость передачи в доставку напрямую влияет на выручку</a:t>
            </a: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5121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2D04DBAB-84F6-BB69-3DD7-9DA255B9E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2F023A3-E2E0-AD93-8BA1-4DCE09A09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0889" y="1334552"/>
            <a:ext cx="5690838" cy="3301116"/>
          </a:xfrm>
          <a:prstGeom prst="rect">
            <a:avLst/>
          </a:prstGeom>
        </p:spPr>
      </p:pic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8E5046C0-FCCA-8C95-C051-CA567390B6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1852766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Логистика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2F324EA3-0B4E-EA8F-54F5-CD0D2ECF5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98631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СДЭК  до ПВЗ – крупнейший источник потерь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Заказы: 5161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Невыкуп: 595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Потери: 7,95 млн руб.</a:t>
            </a:r>
          </a:p>
        </p:txBody>
      </p:sp>
    </p:spTree>
    <p:extLst>
      <p:ext uri="{BB962C8B-B14F-4D97-AF65-F5344CB8AC3E}">
        <p14:creationId xmlns:p14="http://schemas.microsoft.com/office/powerpoint/2010/main" val="41110359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>
          <a:extLst>
            <a:ext uri="{FF2B5EF4-FFF2-40B4-BE49-F238E27FC236}">
              <a16:creationId xmlns:a16="http://schemas.microsoft.com/office/drawing/2014/main" id="{806EB22B-8C5A-D402-C798-5EAAA6DF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FD2E6DF-EEF1-0898-4E50-BD423420C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7" y="783982"/>
            <a:ext cx="7504554" cy="4359518"/>
          </a:xfrm>
          <a:prstGeom prst="rect">
            <a:avLst/>
          </a:prstGeom>
        </p:spPr>
      </p:pic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01710562-9A93-85DD-2ED2-3F29893BCD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223243"/>
            <a:ext cx="8419345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Менеджеры – есть сильная разница в эффективности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9A36488A-3E87-7B56-CE61-BD799B797C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60053" y="2571750"/>
            <a:ext cx="2027153" cy="19731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У менеджера 0030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Заказы: 1347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Невыкуп: 157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Потери: 2,07 млн руб.</a:t>
            </a:r>
          </a:p>
        </p:txBody>
      </p:sp>
      <p:sp>
        <p:nvSpPr>
          <p:cNvPr id="8" name="Google Shape;98;p7">
            <a:extLst>
              <a:ext uri="{FF2B5EF4-FFF2-40B4-BE49-F238E27FC236}">
                <a16:creationId xmlns:a16="http://schemas.microsoft.com/office/drawing/2014/main" id="{BF37F12D-9C4E-29E7-C025-B98A695A9522}"/>
              </a:ext>
            </a:extLst>
          </p:cNvPr>
          <p:cNvSpPr txBox="1">
            <a:spLocks/>
          </p:cNvSpPr>
          <p:nvPr/>
        </p:nvSpPr>
        <p:spPr>
          <a:xfrm>
            <a:off x="6556410" y="2498466"/>
            <a:ext cx="2027153" cy="1861052"/>
          </a:xfrm>
          <a:prstGeom prst="rect">
            <a:avLst/>
          </a:prstGeom>
          <a:ln/>
          <a:effectLst>
            <a:softEdge rad="12700"/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ru-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Основные драйверы: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ru-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Скорость доставки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ru-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Логистика</a:t>
            </a:r>
          </a:p>
          <a:p>
            <a:pPr marL="0" indent="0">
              <a:spcAft>
                <a:spcPts val="1200"/>
              </a:spcAft>
              <a:buFont typeface="Arial"/>
              <a:buNone/>
            </a:pPr>
            <a:r>
              <a:rPr lang="ru-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менеджеры</a:t>
            </a:r>
            <a:r>
              <a:rPr lang="ru" sz="1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82097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4876C2F3-965D-1699-02C9-01B2CFAA1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DA94DBE-86B9-0CF2-FC18-C94CA8257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22" y="629619"/>
            <a:ext cx="6248920" cy="4363824"/>
          </a:xfrm>
          <a:prstGeom prst="rect">
            <a:avLst/>
          </a:prstGeom>
        </p:spPr>
      </p:pic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29FC2CC2-3D13-C36C-25A3-47F32CFA0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699" y="150057"/>
            <a:ext cx="5351681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Модель </a:t>
            </a:r>
            <a:r>
              <a:rPr lang="en-US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Gradient Boosting</a:t>
            </a:r>
            <a:r>
              <a:rPr lang="ru-RU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- </a:t>
            </a:r>
            <a:r>
              <a:rPr lang="en-US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ROC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FE290351-1EA9-1B62-4CAC-69F587B53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354143" y="864030"/>
            <a:ext cx="2684636" cy="194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Модель хорошо разделяет классы</a:t>
            </a:r>
            <a:endParaRPr lang="ru"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ROC-AUC = 0.763</a:t>
            </a:r>
            <a:r>
              <a:rPr lang="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470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9A8379EB-E7C7-1A0D-1E5B-DF0241108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EEFA351-0B08-D62F-F668-E86799D2E1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550" y="545690"/>
            <a:ext cx="6369105" cy="4447753"/>
          </a:xfrm>
          <a:prstGeom prst="rect">
            <a:avLst/>
          </a:prstGeom>
        </p:spPr>
      </p:pic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F5611CAF-0904-B8C8-8432-E004D8B311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50057"/>
            <a:ext cx="4260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>
              <a:buSzPct val="111111"/>
            </a:pPr>
            <a:r>
              <a:rPr lang="en-US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PR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" name="Google Shape;98;p7">
            <a:extLst>
              <a:ext uri="{FF2B5EF4-FFF2-40B4-BE49-F238E27FC236}">
                <a16:creationId xmlns:a16="http://schemas.microsoft.com/office/drawing/2014/main" id="{9C6C6A14-6ED6-FE6D-CFA2-30DFC35DD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554209" y="800820"/>
            <a:ext cx="2432472" cy="384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spcAft>
                <a:spcPts val="1200"/>
              </a:spcAft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У модели высокая точность</a:t>
            </a:r>
          </a:p>
          <a:p>
            <a:pPr marL="0" lv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PR-AUC = 0.946</a:t>
            </a:r>
          </a:p>
          <a:p>
            <a:pPr marL="0" lvl="0" indent="0">
              <a:spcAft>
                <a:spcPts val="1200"/>
              </a:spcAft>
              <a:buNone/>
            </a:pPr>
            <a:endParaRPr lang="en-US"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>
              <a:spcAft>
                <a:spcPts val="1200"/>
              </a:spcAft>
              <a:buNone/>
            </a:pP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Модель выделяет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high-risk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 сегмент и позволяет работать с заказами заранее</a:t>
            </a:r>
            <a:endParaRPr lang="ru"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916192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5">
          <a:extLst>
            <a:ext uri="{FF2B5EF4-FFF2-40B4-BE49-F238E27FC236}">
              <a16:creationId xmlns:a16="http://schemas.microsoft.com/office/drawing/2014/main" id="{EE35736B-93D5-659B-CCAE-662E940D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>
            <a:extLst>
              <a:ext uri="{FF2B5EF4-FFF2-40B4-BE49-F238E27FC236}">
                <a16:creationId xmlns:a16="http://schemas.microsoft.com/office/drawing/2014/main" id="{B40E28DC-9938-044E-0B18-61ED03F263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83730" y="423526"/>
            <a:ext cx="3863693" cy="4483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114300" indent="0">
              <a:buNone/>
            </a:pPr>
            <a:r>
              <a:rPr lang="ru-RU" sz="24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Рекомендации: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Ускорить передачу в доставку (внедрить SLA: передача в доставку ≤ 24–48 часов, автоматизировать создание заявок на доставку)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Оптимизировать СДЭК (сменить службу для проблемных сегментов, сократить сроки доставки, ограничить использование СДЭК в слабых регионах)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Обучить менеджеров (скрипты коммуникации)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Внедрить ML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scoring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(скоринг каждого заказа при создании: деление на сегменты: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low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risk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,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medium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risk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,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high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 </a:t>
            </a:r>
            <a:r>
              <a:rPr lang="ru-RU" sz="1600" dirty="0" err="1">
                <a:solidFill>
                  <a:srgbClr val="022666"/>
                </a:solidFill>
                <a:latin typeface="Roboto"/>
                <a:ea typeface="Roboto"/>
                <a:cs typeface="Roboto"/>
              </a:rPr>
              <a:t>risk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)</a:t>
            </a:r>
          </a:p>
          <a:p>
            <a:pPr marL="114300" indent="0">
              <a:buNone/>
            </a:pPr>
            <a:endParaRPr lang="ru-RU" sz="24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114300" indent="0">
              <a:buNone/>
            </a:pPr>
            <a:r>
              <a:rPr lang="ru-RU" sz="24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Ожидаемый эффект: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рост выкупа на 5–10%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снижение потерь</a:t>
            </a:r>
          </a:p>
          <a:p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рост прибыли</a:t>
            </a:r>
          </a:p>
          <a:p>
            <a:endParaRPr sz="1600"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Google Shape;77;p4">
            <a:extLst>
              <a:ext uri="{FF2B5EF4-FFF2-40B4-BE49-F238E27FC236}">
                <a16:creationId xmlns:a16="http://schemas.microsoft.com/office/drawing/2014/main" id="{5A279EE3-64BB-3CEF-5B73-721393D7B819}"/>
              </a:ext>
            </a:extLst>
          </p:cNvPr>
          <p:cNvSpPr txBox="1">
            <a:spLocks/>
          </p:cNvSpPr>
          <p:nvPr/>
        </p:nvSpPr>
        <p:spPr>
          <a:xfrm>
            <a:off x="420037" y="1054643"/>
            <a:ext cx="3863693" cy="193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14300" indent="0">
              <a:buFont typeface="Arial"/>
              <a:buNone/>
            </a:pPr>
            <a:r>
              <a:rPr lang="ru-RU" sz="24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Решение:</a:t>
            </a:r>
          </a:p>
          <a:p>
            <a:pPr marL="114300" indent="0">
              <a:buNone/>
            </a:pPr>
            <a:r>
              <a:rPr lang="en-US" sz="1600" b="1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SLA &amp; Buyout Intelligence System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, которая позволяет отслеживать </a:t>
            </a:r>
            <a:r>
              <a:rPr lang="en-US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SLA</a:t>
            </a:r>
            <a:r>
              <a:rPr lang="ru-RU" sz="1600" dirty="0">
                <a:solidFill>
                  <a:srgbClr val="022666"/>
                </a:solidFill>
                <a:latin typeface="Roboto"/>
                <a:ea typeface="Roboto"/>
                <a:cs typeface="Roboto"/>
              </a:rPr>
              <a:t>; прогнозировать выкуп; находить проблемные сегменты</a:t>
            </a:r>
          </a:p>
        </p:txBody>
      </p:sp>
    </p:spTree>
    <p:extLst>
      <p:ext uri="{BB962C8B-B14F-4D97-AF65-F5344CB8AC3E}">
        <p14:creationId xmlns:p14="http://schemas.microsoft.com/office/powerpoint/2010/main" val="2886693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План развития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lvl="0" indent="-330200">
              <a:lnSpc>
                <a:spcPct val="150000"/>
              </a:lnSpc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Интеграция с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CRM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системой</a:t>
            </a:r>
          </a:p>
          <a:p>
            <a:pPr lvl="0" indent="-330200">
              <a:lnSpc>
                <a:spcPct val="150000"/>
              </a:lnSpc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Реализация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real-time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скоринга заказов</a:t>
            </a:r>
          </a:p>
          <a:p>
            <a:pPr lvl="0" indent="-330200">
              <a:lnSpc>
                <a:spcPct val="150000"/>
              </a:lnSpc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Автоматическое принятие решений (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alerts)</a:t>
            </a:r>
            <a:endParaRPr lang="ru-RU" sz="1600" dirty="0">
              <a:solidFill>
                <a:schemeClr val="accent1">
                  <a:lumMod val="75000"/>
                </a:schemeClr>
              </a:solidFill>
            </a:endParaRPr>
          </a:p>
          <a:p>
            <a:pPr lvl="0" indent="-330200">
              <a:lnSpc>
                <a:spcPct val="150000"/>
              </a:lnSpc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Проведение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A/B </a:t>
            </a: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тестов</a:t>
            </a:r>
          </a:p>
          <a:p>
            <a:pPr lvl="0" indent="-330200">
              <a:lnSpc>
                <a:spcPct val="150000"/>
              </a:lnSpc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Расширение модели (новые признаки)</a:t>
            </a:r>
          </a:p>
          <a:p>
            <a:pPr lvl="0" indent="-330200">
              <a:lnSpc>
                <a:spcPct val="150000"/>
              </a:lnSpc>
              <a:buClr>
                <a:srgbClr val="022666"/>
              </a:buClr>
              <a:buSzPts val="1600"/>
              <a:buFont typeface="Roboto"/>
              <a:buAutoNum type="arabicPeriod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Визуализация через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dashboard</a:t>
            </a:r>
            <a:endParaRPr sz="1600" dirty="0">
              <a:solidFill>
                <a:schemeClr val="accent1">
                  <a:lumMod val="7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6">
          <a:extLst>
            <a:ext uri="{FF2B5EF4-FFF2-40B4-BE49-F238E27FC236}">
              <a16:creationId xmlns:a16="http://schemas.microsoft.com/office/drawing/2014/main" id="{572847E2-4575-BAE0-3793-15371F44A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">
            <a:extLst>
              <a:ext uri="{FF2B5EF4-FFF2-40B4-BE49-F238E27FC236}">
                <a16:creationId xmlns:a16="http://schemas.microsoft.com/office/drawing/2014/main" id="{99AB0C13-0A63-73F6-BA77-11E7FEBCA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Демонстрация результата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49775-28CD-4CCC-FB47-3D528911248B}"/>
              </a:ext>
            </a:extLst>
          </p:cNvPr>
          <p:cNvSpPr txBox="1"/>
          <p:nvPr/>
        </p:nvSpPr>
        <p:spPr>
          <a:xfrm>
            <a:off x="572610" y="1663809"/>
            <a:ext cx="539318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В результате решения получены: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система оценки SLA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когортный анализ поведения заказов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выявлены ключевые факторы влияния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построена ML модель прогнозирования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рассчитаны реальные потери бизнеса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>
                <a:solidFill>
                  <a:schemeClr val="accent1">
                    <a:lumMod val="75000"/>
                  </a:schemeClr>
                </a:solidFill>
              </a:rPr>
              <a:t>сформирован список приоритетных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2916232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Выводы и результаты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0" name="Google Shape;110;p9"/>
          <p:cNvSpPr/>
          <p:nvPr/>
        </p:nvSpPr>
        <p:spPr>
          <a:xfrm>
            <a:off x="454775" y="1251575"/>
            <a:ext cx="6790800" cy="3400800"/>
          </a:xfrm>
          <a:prstGeom prst="roundRect">
            <a:avLst>
              <a:gd name="adj" fmla="val 10975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sz="16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Итоги работы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выявлены ключевые драйверы выкупа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доказано влияние скорости доставки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построена модель прогнозирования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оценены потери в деньгах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предложены конкретные меры</a:t>
            </a:r>
          </a:p>
          <a:p>
            <a:endParaRPr lang="ru" sz="16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  <a:p>
            <a:r>
              <a:rPr lang="ru-RU" sz="1600" b="1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Решение позволяет: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снизить потери без увеличения маркетинга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повысить выкуп на 5–10%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вернуть до миллионов рублей выручки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sz="1600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перейти от реактивного управления к проактивному</a:t>
            </a:r>
            <a:endParaRPr sz="16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C7E4E7B4-E59B-A206-F9FB-78F962FE5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01"/>
            <a:ext cx="5069954" cy="294521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C4490B-5A2B-E4E6-E44F-FDC5ED95E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6351" y="1758315"/>
            <a:ext cx="4847527" cy="3385186"/>
          </a:xfrm>
          <a:prstGeom prst="rect">
            <a:avLst/>
          </a:prstGeom>
        </p:spPr>
      </p:pic>
      <p:sp>
        <p:nvSpPr>
          <p:cNvPr id="13" name="Google Shape;97;p7">
            <a:extLst>
              <a:ext uri="{FF2B5EF4-FFF2-40B4-BE49-F238E27FC236}">
                <a16:creationId xmlns:a16="http://schemas.microsoft.com/office/drawing/2014/main" id="{AD863EE3-8765-0BBB-722F-9985EACCD19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43600" y="347658"/>
            <a:ext cx="238897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" dirty="0">
                <a:solidFill>
                  <a:srgbClr val="022666"/>
                </a:solidFill>
                <a:latin typeface="Roboto"/>
                <a:ea typeface="Roboto"/>
                <a:cs typeface="Roboto"/>
                <a:sym typeface="Roboto"/>
              </a:rPr>
              <a:t>Справочно</a:t>
            </a:r>
            <a:endParaRPr dirty="0">
              <a:solidFill>
                <a:srgbClr val="022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9063507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716</Words>
  <Application>Microsoft Office PowerPoint</Application>
  <PresentationFormat>Экран (16:9)</PresentationFormat>
  <Paragraphs>140</Paragraphs>
  <Slides>19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3" baseType="lpstr">
      <vt:lpstr>Roboto</vt:lpstr>
      <vt:lpstr>Arial</vt:lpstr>
      <vt:lpstr>Courier New</vt:lpstr>
      <vt:lpstr>Simple Light</vt:lpstr>
      <vt:lpstr>Презентация PowerPoint</vt:lpstr>
      <vt:lpstr>Дачники</vt:lpstr>
      <vt:lpstr>Проблема/задача</vt:lpstr>
      <vt:lpstr>Решение</vt:lpstr>
      <vt:lpstr>Техническая реализация</vt:lpstr>
      <vt:lpstr>Распределение выкупа</vt:lpstr>
      <vt:lpstr>Динамика выкупа</vt:lpstr>
      <vt:lpstr>Heatmap Когорт</vt:lpstr>
      <vt:lpstr>Презентация PowerPoint</vt:lpstr>
      <vt:lpstr>Влияние скорости</vt:lpstr>
      <vt:lpstr>Логистика</vt:lpstr>
      <vt:lpstr>Менеджеры – есть сильная разница в эффективности</vt:lpstr>
      <vt:lpstr>Модель Gradient Boosting - ROC</vt:lpstr>
      <vt:lpstr>PR</vt:lpstr>
      <vt:lpstr>Презентация PowerPoint</vt:lpstr>
      <vt:lpstr>План развития</vt:lpstr>
      <vt:lpstr>Демонстрация результата</vt:lpstr>
      <vt:lpstr>Выводы и результаты</vt:lpstr>
      <vt:lpstr>Справочно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Мишаня</dc:creator>
  <cp:lastModifiedBy>Mihail Alekseevich Zaharov</cp:lastModifiedBy>
  <cp:revision>5</cp:revision>
  <dcterms:modified xsi:type="dcterms:W3CDTF">2026-04-20T07:47:08Z</dcterms:modified>
</cp:coreProperties>
</file>